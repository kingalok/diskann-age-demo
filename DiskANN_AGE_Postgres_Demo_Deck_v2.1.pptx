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917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Goal: show how vector search (DiskANN) and graph traversal (AGE) complement each other inside PostgreSQL, then finish with an agent that orchestrates both. Audience is assumed new to vectors/graphs.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and timeboxes. Keep momentum; promise a practical demo and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three questions; briefly explain why tags/JOINs alone are insufficient (semantics + multi-hop + scoring).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intuition: numbers-as-meaning; distance metrics; why we need ANN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DiskANN: SSD-friendly, strong latency/recall balance, complementary to HNSW/IVF. Emphasize practical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minimal. Call out that index syntax varies by extension; the audience should map to their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both live in the demo. Emphasize latency delta; discuss recall if asked. Have pre-baked timings in your back pocket.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graph mental model. Reassure: still in Postgres; you can combine with SQL where it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to bootstrap AGE quickly. In your demo, you’ll have richer data preloaded.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variable-length paths (*1..2) and filtering out already-liked items. Keep the example focused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flow: agent parses intent → vector preselect for semantic closeness → graph step injects user context → blended output. Keep the diagram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idea: vector distance is the base; graph contributes a positive boost. Tweak weights based 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crisp. If time gets tight, skip B or show pre-recorded outputs for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show how tools abstract complexity. Emphasize that natural-language → deterministic tool chain is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Offer pragmatic dials to turn. Encourage measuring recall vs latency curves and keeping a small benchmark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scars: mismatched metrics, cache issues, graph hygiene, workload isolation, fusion weight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skepticism: show the data. Keep it honest; exact figures depend on dataset, dims, hardware, and index params.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story arc and nudge the audience to try a scoped POC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 Keep terminal open with prepared SQL and one canned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these handy if someone asks about setup specifics. Reinforce that index syntax can vary with the extension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From SQL to AI: </a:t>
            </a:r>
            <a:r>
              <a:rPr dirty="0" err="1"/>
              <a:t>DiskANN</a:t>
            </a:r>
            <a:r>
              <a:rPr dirty="0"/>
              <a:t> + AGE Graph in PostgreSQL (Azure Flexible Server)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Semantic search meets relationships — with an agentic demo (MCP + LangGraph)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RDBMS pain points: three hard questions</a:t>
            </a:r>
          </a:p>
          <a:p>
            <a:pPr>
              <a:defRPr sz="2000"/>
            </a:pPr>
            <a:r>
              <a:t>Vectors 101 → ANN → DiskANN quick tour</a:t>
            </a:r>
          </a:p>
          <a:p>
            <a:pPr>
              <a:defRPr sz="2000"/>
            </a:pPr>
            <a:r>
              <a:t>Graphs 101 → AGE openCypher</a:t>
            </a:r>
          </a:p>
          <a:p>
            <a:pPr>
              <a:defRPr sz="2000"/>
            </a:pPr>
            <a:r>
              <a:t>Fusion: vector preselect + graph re-rank</a:t>
            </a:r>
          </a:p>
          <a:p>
            <a:pPr>
              <a:defRPr sz="2000"/>
            </a:pPr>
            <a:r>
              <a:t>Live demo: queries + LangGraph Dev</a:t>
            </a:r>
          </a:p>
          <a:p>
            <a:pPr>
              <a:defRPr sz="2000"/>
            </a:pPr>
            <a:r>
              <a:t>Ops, tuning, pitfalls,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Hook: Hard Problems for Plain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“Given a new description, find 5 most similar items.”</a:t>
            </a:r>
          </a:p>
          <a:p>
            <a:pPr>
              <a:defRPr sz="2000"/>
            </a:pPr>
            <a:r>
              <a:t>Q2: “Recommend films for Alice using friends-of-friends taste.”</a:t>
            </a:r>
          </a:p>
          <a:p>
            <a:pPr>
              <a:defRPr sz="2000"/>
            </a:pPr>
            <a:r>
              <a:t>Q3: “Blend both: similar items, but prioritized by Alice’s network.”</a:t>
            </a:r>
          </a:p>
          <a:p>
            <a:pPr>
              <a:defRPr sz="2000"/>
            </a:pPr>
            <a:r>
              <a:t>Why it’s hard:</a:t>
            </a:r>
          </a:p>
          <a:p>
            <a:pPr lvl="1">
              <a:defRPr sz="1800"/>
            </a:pPr>
            <a:r>
              <a:t>Synonyms &amp; semantics ≠ LIKE/TF-IDF</a:t>
            </a:r>
          </a:p>
          <a:p>
            <a:pPr lvl="1">
              <a:defRPr sz="1800"/>
            </a:pPr>
            <a:r>
              <a:t>Multi-hop reasoning is verbose, brittle with joins</a:t>
            </a:r>
          </a:p>
          <a:p>
            <a:pPr lvl="1">
              <a:defRPr sz="1800"/>
            </a:pPr>
            <a:r>
              <a:t>Combining both explodes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Vectors 101 (Embeddings)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Text/images → fixed-length numeric vectors</a:t>
            </a:r>
          </a:p>
          <a:p>
            <a:pPr>
              <a:defRPr sz="1800"/>
            </a:pPr>
            <a:r>
              <a:t>Distance ≈ similarity (cosine, L2)</a:t>
            </a:r>
          </a:p>
          <a:p>
            <a:pPr>
              <a:defRPr sz="1800"/>
            </a:pPr>
            <a:r>
              <a:t>High-dimensional indexing ≠ B-Tree/GIN</a:t>
            </a:r>
          </a:p>
          <a:p>
            <a:pPr>
              <a:defRPr sz="1800"/>
            </a:pPr>
            <a:r>
              <a:t>ANN: approximate top-k, trade recall for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foundation model to embed your items</a:t>
            </a:r>
          </a:p>
          <a:p>
            <a:pPr>
              <a:defRPr sz="1800"/>
            </a:pPr>
            <a:r>
              <a:t>Store as VECTOR(n) column</a:t>
            </a:r>
          </a:p>
          <a:p>
            <a:pPr>
              <a:defRPr sz="1800"/>
            </a:pPr>
            <a:r>
              <a:t>Query: ORDER BY embedding &lt;-&gt; query_vector LIMIT k</a:t>
            </a:r>
          </a:p>
          <a:p>
            <a:pPr>
              <a:defRPr sz="1800"/>
            </a:pPr>
            <a:r>
              <a:t>Index with ANN to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DiskANN?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Graph-on-disk ANN designed for SSD-scale datasets</a:t>
            </a:r>
          </a:p>
          <a:p>
            <a:pPr>
              <a:defRPr sz="2000"/>
            </a:pPr>
            <a:r>
              <a:t>Good latency/recall with modest memory footprint</a:t>
            </a:r>
          </a:p>
          <a:p>
            <a:pPr>
              <a:defRPr sz="2000"/>
            </a:pPr>
            <a:r>
              <a:t>Built for high-dimensional vectors and large collections</a:t>
            </a:r>
          </a:p>
          <a:p>
            <a:pPr>
              <a:defRPr sz="2000"/>
            </a:pPr>
            <a:r>
              <a:t>Use when dataset &gt;&gt; RAM or you want fast cold-start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Minimal Schema for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Adjust dimensions (e.g., 384/768) and distance metric to match your embeddings.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80440"/>
            <a:ext cx="7898524" cy="4560439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CREATE EXTENSION IF NOT EXISTS vector;  -- if not already enabled
CREATE TABLE items (
  id        BIGINT PRIMARY KEY,
  title     TEXT,
  meta      JSONB,
  embedding VECTOR(768)
);
-- Build your ANN index (example placeholders; replace with your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/HNSW syntax)
-- Example HNSW 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pgvector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):
CREATE INDEX ON items USING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hnsw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(embedding vector_l2_ops);
-- Or your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index:
-- CREATE INDEX ON items USING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(embedding &lt;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your_ops_class</a:t>
            </a:r>
            <a:r>
              <a:rPr sz="1400" dirty="0">
                <a:solidFill>
                  <a:schemeClr val="tx1"/>
                </a:solidFill>
                <a:latin typeface="Consolas"/>
              </a:rPr>
              <a:t>&gt;);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Top-K Semantic Search (Before &amp; After 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Same query, different performance profile.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-- Without ANN index (brute force):
EXPLAIN ANALYZE
SELECT id, title
FROM items
ORDER BY embedding &lt;-&gt; $1::vector  -- $1 = query vector
LIMIT 5;
-- With ANN index (HNSW/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):
EXPLAIN ANALYZE
SELECT id, title
FROM items
ORDER BY embedding &lt;-&gt; $1::vector
LIMIT 5;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Graphs 101 (AGE + openCypher)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Model: nodes (labels) and edges (types)</a:t>
            </a:r>
          </a:p>
          <a:p>
            <a:pPr>
              <a:defRPr sz="1800"/>
            </a:pPr>
            <a:r>
              <a:t>Queries express paths and neighborhoods</a:t>
            </a:r>
          </a:p>
          <a:p>
            <a:pPr>
              <a:defRPr sz="1800"/>
            </a:pPr>
            <a:r>
              <a:t>Great for multi-hop, ranking by proximity</a:t>
            </a:r>
          </a:p>
          <a:p>
            <a:pPr>
              <a:defRPr sz="1800"/>
            </a:pPr>
            <a:r>
              <a:t>Complement, don’t replace, relational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CREATE EXTENSION age; SET search_path to ag_catalog</a:t>
            </a:r>
          </a:p>
          <a:p>
            <a:pPr>
              <a:defRPr sz="1800"/>
            </a:pPr>
            <a:r>
              <a:t>CREATE GRAPH recs; SET graph_path = recs</a:t>
            </a:r>
          </a:p>
          <a:p>
            <a:pPr>
              <a:defRPr sz="1800"/>
            </a:pPr>
            <a:r>
              <a:t>MERGE users, movies; CREATE [:LIKES], [:FOLLOWS] edges</a:t>
            </a:r>
          </a:p>
          <a:p>
            <a:pPr>
              <a:defRPr sz="1800"/>
            </a:pPr>
            <a:r>
              <a:t>Use MATCH / WHERE / RETURN to traverse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AGE Quickstart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Initialize a graph and load a tiny example.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CREATE EXTENSION IF NOT EXISTS age;
LOAD 'age';
SET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search_path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=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ag_catalog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"$user", public;
SELECT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create_graph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('recs');
SET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graph_path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= recs;
SELECT * FROM cypher('recs', $$
  CREATE (:User {id:'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alice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'})-[:LIKES]-&gt;(:Movie {id:'m1',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title:'Inception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'})
$$) AS (v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agtype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);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AGE Query: Friends-of-Friends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Suggest movies to Alice based on 2-hop neighbors, excluding what she already saw.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SELECT * FROM cypher('recs', $$
  MATCH (:User {id:'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alice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'})-[:FOLLOWS*1..2]-&gt;(u)-[:LIKES]-&gt;(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m:Movie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
  WHERE NOT (:User {id:'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alice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'})-[:LIKES]-&gt;(m)
  RETURN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m.id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AS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movie_id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m.title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AS title, count(*) AS score
  ORDER BY score DESC LIMIT 10
$$) AS 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movie_id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agtype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title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agtype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score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agtype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);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Vector + Graph: Better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User Prompt</a:t>
            </a:r>
          </a:p>
          <a:p>
            <a:r>
              <a:rPr dirty="0">
                <a:solidFill>
                  <a:schemeClr val="tx1"/>
                </a:solidFill>
              </a:rPr>
              <a:t>(“sci-fi like Annihilation”)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32004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MCP / LangGraph</a:t>
            </a:r>
          </a:p>
          <a:p>
            <a:r>
              <a:rPr dirty="0">
                <a:solidFill>
                  <a:schemeClr val="tx1"/>
                </a:solidFill>
              </a:rPr>
              <a:t>(Intent + Tool Routing)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05840"/>
            <a:ext cx="3017520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PostgreSQL (Azure Flexible)</a:t>
            </a:r>
          </a:p>
          <a:p>
            <a:r>
              <a:rPr dirty="0">
                <a:solidFill>
                  <a:schemeClr val="tx1"/>
                </a:solidFill>
              </a:rPr>
              <a:t>• items table + embeddings</a:t>
            </a:r>
          </a:p>
          <a:p>
            <a:r>
              <a:rPr dirty="0">
                <a:solidFill>
                  <a:schemeClr val="tx1"/>
                </a:solidFill>
              </a:rPr>
              <a:t>• ANN index (</a:t>
            </a:r>
            <a:r>
              <a:rPr dirty="0" err="1">
                <a:solidFill>
                  <a:schemeClr val="tx1"/>
                </a:solidFill>
              </a:rPr>
              <a:t>DiskANN</a:t>
            </a:r>
            <a:r>
              <a:rPr dirty="0">
                <a:solidFill>
                  <a:schemeClr val="tx1"/>
                </a:solidFill>
              </a:rPr>
              <a:t>/HNSW)</a:t>
            </a:r>
          </a:p>
          <a:p>
            <a:r>
              <a:rPr dirty="0">
                <a:solidFill>
                  <a:schemeClr val="tx1"/>
                </a:solidFill>
              </a:rPr>
              <a:t>• AGE graph (recs</a:t>
            </a:r>
            <a:r>
              <a:rPr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26080"/>
            <a:ext cx="32004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Vector Preselect</a:t>
            </a:r>
          </a:p>
          <a:p>
            <a:r>
              <a:rPr dirty="0">
                <a:solidFill>
                  <a:schemeClr val="tx1"/>
                </a:solidFill>
              </a:rPr>
              <a:t>Top-K by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971800"/>
            <a:ext cx="301752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Graph Re-rank</a:t>
            </a:r>
          </a:p>
          <a:p>
            <a:r>
              <a:rPr dirty="0" err="1">
                <a:solidFill>
                  <a:schemeClr val="tx1"/>
                </a:solidFill>
              </a:rPr>
              <a:t>openCypher</a:t>
            </a:r>
            <a:r>
              <a:rPr dirty="0">
                <a:solidFill>
                  <a:schemeClr val="tx1"/>
                </a:solidFill>
              </a:rPr>
              <a:t> over recs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572000"/>
            <a:ext cx="274320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rPr dirty="0">
                <a:solidFill>
                  <a:schemeClr val="tx1"/>
                </a:solidFill>
              </a:rPr>
              <a:t>Final Results</a:t>
            </a:r>
          </a:p>
          <a:p>
            <a:r>
              <a:rPr dirty="0">
                <a:solidFill>
                  <a:schemeClr val="tx1"/>
                </a:solidFill>
              </a:rPr>
              <a:t>(blended score)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0"/>
            <a:ext cx="457200" cy="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0"/>
            <a:ext cx="457200" cy="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57600" y="0"/>
            <a:ext cx="6675120" cy="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457200" cy="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0"/>
            <a:ext cx="4846320" cy="0"/>
          </a:xfrm>
          <a:prstGeom prst="line">
            <a:avLst/>
          </a:prstGeom>
          <a:ln w="2540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Fusion Query Pattern (SQL + 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Preselect similar items with vectors, then re-rank by graph proximity/context.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WITH candidates AS (
  SELECT id, title, (embedding &lt;-&gt; $1::vector) AS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
  FROM items
  ORDER BY embedding &lt;-&gt; $1::vector
  LIMIT 50
),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graph_boost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AS (
  -- Example: count how many 1–2 hop neighbors like the candidate
  SELECT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c.id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c.title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
         (SELECT COALESCE(sum(boost),0)
          FROM cypher('recs', $$
            MATCH (:User {id:'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alice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'})-[:FOLLOWS*1..2]-&gt;(u)-[:LIKES]-&gt;(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m:Movie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
            WHERE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m.id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= $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cypher$c_id</a:t>
            </a:r>
            <a:r>
              <a:rPr sz="1400" dirty="0">
                <a:solidFill>
                  <a:schemeClr val="tx1"/>
                </a:solidFill>
                <a:latin typeface="Consolas"/>
              </a:rPr>
              <a:t>
            RETURN 1 AS boost
          $$) AS (boost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agtype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
         ) AS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gboost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
  FROM candidates c
)
SELECT id, title
FROM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graph_boost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
ORDER BY 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- 0.1 *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gboost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 ASC
LIMIT 10;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Script (5–8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A) Brute-force vs ANN top-k query (timings)</a:t>
            </a:r>
          </a:p>
          <a:p>
            <a:pPr>
              <a:defRPr sz="2000"/>
            </a:pPr>
            <a:r>
              <a:t>B) AGE friends-of-friends recommendation</a:t>
            </a:r>
          </a:p>
          <a:p>
            <a:pPr>
              <a:defRPr sz="2000"/>
            </a:pPr>
            <a:r>
              <a:t>C) Fusion: preselect + re-rank query</a:t>
            </a:r>
          </a:p>
          <a:p>
            <a:pPr>
              <a:defRPr sz="2000"/>
            </a:pPr>
            <a:r>
              <a:t>D) Agentic step in LangGraph Dev: one natural-language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Layer: MCP +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MCP server exposes Postgres tools: vector_search, graph_query, fusion_query</a:t>
            </a:r>
          </a:p>
          <a:p>
            <a:pPr>
              <a:defRPr sz="2000"/>
            </a:pPr>
            <a:r>
              <a:t>LangGraph routes: intent classifier → tool selection → iterative plan</a:t>
            </a:r>
          </a:p>
          <a:p>
            <a:pPr>
              <a:defRPr sz="2000"/>
            </a:pPr>
            <a:r>
              <a:t>Observability: show tool calls and state in Dev UI</a:t>
            </a:r>
          </a:p>
          <a:p>
            <a:pPr>
              <a:defRPr sz="2000"/>
            </a:pPr>
            <a:r>
              <a:t>Safety guardrails: query templates, parameter bounds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Ops &amp; Tuning: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Embeddings: choose metric (cosine/L2) to match model</a:t>
            </a:r>
          </a:p>
          <a:p>
            <a:pPr>
              <a:defRPr sz="1800"/>
            </a:pPr>
            <a:r>
              <a:t>Batch writes; VACUUM/ANALYZE after loads</a:t>
            </a:r>
          </a:p>
          <a:p>
            <a:pPr>
              <a:defRPr sz="1800"/>
            </a:pPr>
            <a:r>
              <a:t>During index build: raise maintenance_work_mem</a:t>
            </a:r>
          </a:p>
          <a:p>
            <a:pPr>
              <a:defRPr sz="1800"/>
            </a:pPr>
            <a:r>
              <a:t>IOPS/throughput matter for SSD-backed ANN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Pre-warm hot pages; cache typical query vectors</a:t>
            </a:r>
          </a:p>
          <a:p>
            <a:pPr>
              <a:defRPr sz="1800"/>
            </a:pPr>
            <a:r>
              <a:t>Measure recall@k vs latency tradeoffs</a:t>
            </a:r>
          </a:p>
          <a:p>
            <a:pPr>
              <a:defRPr sz="1800"/>
            </a:pPr>
            <a:r>
              <a:t>AGE: index node IDs; keep concise labels</a:t>
            </a:r>
          </a:p>
          <a:p>
            <a:pPr>
              <a:defRPr sz="1800"/>
            </a:pPr>
            <a:r>
              <a:t>Backup plan: canned query outputs for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 &amp;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Index/ops class mismatch with your embedding distance</a:t>
            </a:r>
          </a:p>
          <a:p>
            <a:pPr>
              <a:defRPr sz="2000"/>
            </a:pPr>
            <a:r>
              <a:t>Cold cache surprises; prewarm or run a warm-up query</a:t>
            </a:r>
          </a:p>
          <a:p>
            <a:pPr>
              <a:defRPr sz="2000"/>
            </a:pPr>
            <a:r>
              <a:t>Graph bloat: control labels/properties, archive stale edges</a:t>
            </a:r>
          </a:p>
          <a:p>
            <a:pPr>
              <a:defRPr sz="2000"/>
            </a:pPr>
            <a:r>
              <a:t>Mixed workloads: isolate OLTP vs ANN/graph queries if needed</a:t>
            </a:r>
          </a:p>
          <a:p>
            <a:pPr>
              <a:defRPr sz="2000"/>
            </a:pPr>
            <a:r>
              <a:t>Don’t overfit weights in fusion without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Your Numbers: Latency &amp; Recall (Example 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Replace with your measurements on your dataset/hardware.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058400" cy="5943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chemeClr val="tx1"/>
                </a:solidFill>
                <a:latin typeface="Consolas"/>
              </a:rPr>
              <a:t>k | Method    | P95 Latency (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ms</a:t>
            </a:r>
            <a:r>
              <a:rPr sz="1400" dirty="0">
                <a:solidFill>
                  <a:schemeClr val="tx1"/>
                </a:solidFill>
                <a:latin typeface="Consolas"/>
              </a:rPr>
              <a:t>) |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Recall@k</a:t>
            </a:r>
            <a:r>
              <a:rPr sz="1400" dirty="0">
                <a:solidFill>
                  <a:schemeClr val="tx1"/>
                </a:solidFill>
                <a:latin typeface="Consolas"/>
              </a:rPr>
              <a:t>
---+-----------+------------------+---------
5 | Brute     |  950              | 1.00
5 | HNSW      |   25              | 0.98
5 |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  |   18              | 0.97
10| HNSW      |   35              | 0.98
10|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  |   26              | 0.97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PostgreSQL + vectors + graphs: powerful in one stack</a:t>
            </a:r>
          </a:p>
          <a:p>
            <a:pPr>
              <a:defRPr sz="2000"/>
            </a:pPr>
            <a:r>
              <a:t>Start small: 10k–50k items; validate metrics and UX</a:t>
            </a:r>
          </a:p>
          <a:p>
            <a:pPr>
              <a:defRPr sz="2000"/>
            </a:pPr>
            <a:r>
              <a:t>Scale: move to SSD-friendly ANN and tighten graph model</a:t>
            </a:r>
          </a:p>
          <a:p>
            <a:pPr>
              <a:defRPr sz="2000"/>
            </a:pPr>
            <a:r>
              <a:t>Agent: wrap with MCP tools; show LangGraph Dev to stakeholders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Backup slides: DDL, config, and demo scripts in appendix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Appendix: DDL &amp; Setup Snippets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Adapt to your environment (Azure Flexible Server).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324" y="1755226"/>
            <a:ext cx="7267903" cy="3961349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dirty="0">
                <a:solidFill>
                  <a:schemeClr val="tx1"/>
                </a:solidFill>
                <a:latin typeface="Consolas"/>
              </a:rPr>
              <a:t>-- Enable extensions (as supported by your server):
CREATE EXTENSION IF NOT EXISTS vector;
CREATE EXTENSION IF NOT EXISTS age;
LOAD 'age';
SET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search_path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=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ag_catalog</a:t>
            </a:r>
            <a:r>
              <a:rPr sz="1400" dirty="0">
                <a:solidFill>
                  <a:schemeClr val="tx1"/>
                </a:solidFill>
                <a:latin typeface="Consolas"/>
              </a:rPr>
              <a:t>, "$user", public;
SELECT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create_graph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('recs'); SET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graph_path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= recs;
-- Items table and index (choose your ANN index):
CREATE TABLE items(
  id BIGINT PRIMARY KEY,
  title TEXT,
  meta JSONB,
  embedding VECTOR(768)
);
CREATE INDEX ON items USING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hnsw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(embedding vector_l2_ops);
-- or: CREATE INDEX ON items USING </a:t>
            </a:r>
            <a:r>
              <a:rPr sz="1400" dirty="0" err="1">
                <a:solidFill>
                  <a:schemeClr val="tx1"/>
                </a:solidFill>
                <a:latin typeface="Consolas"/>
              </a:rPr>
              <a:t>diskann</a:t>
            </a:r>
            <a:r>
              <a:rPr sz="1400" dirty="0">
                <a:solidFill>
                  <a:schemeClr val="tx1"/>
                </a:solidFill>
                <a:latin typeface="Consolas"/>
              </a:rPr>
              <a:t> (embedding &lt;ops&gt;);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1946</Words>
  <Application>Microsoft Macintosh PowerPoint</Application>
  <PresentationFormat>On-screen Show (4:3)</PresentationFormat>
  <Paragraphs>134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From SQL to AI: DiskANN + AGE Graph in PostgreSQL (Azure Flexible Server)</vt:lpstr>
      <vt:lpstr>Agenda</vt:lpstr>
      <vt:lpstr>The Hook: Hard Problems for Plain SQL</vt:lpstr>
      <vt:lpstr>PowerPoint Presentation</vt:lpstr>
      <vt:lpstr>Why DiskANN?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 Script (5–8 min)</vt:lpstr>
      <vt:lpstr>Agentic Layer: MCP + LangGraph</vt:lpstr>
      <vt:lpstr>PowerPoint Presentation</vt:lpstr>
      <vt:lpstr>Pitfalls &amp; Gotchas</vt:lpstr>
      <vt:lpstr>PowerPoint Presentation</vt:lpstr>
      <vt:lpstr>Resources &amp; Next Steps</vt:lpstr>
      <vt:lpstr>Q&amp;A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Sharma</cp:lastModifiedBy>
  <cp:revision>2</cp:revision>
  <dcterms:created xsi:type="dcterms:W3CDTF">2013-01-27T09:14:16Z</dcterms:created>
  <dcterms:modified xsi:type="dcterms:W3CDTF">2025-08-12T09:11:46Z</dcterms:modified>
  <cp:category/>
</cp:coreProperties>
</file>