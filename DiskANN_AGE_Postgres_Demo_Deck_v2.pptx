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Goal: show how vector search (DiskANN) and graph traversal (AGE) complement each other inside PostgreSQL, then finish with an agent that orchestrates both. Audience is assumed new to vectors/graphs.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 and timeboxes. Keep momentum; promise a practical demo and takeaways.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three questions; briefly explain why tags/JOINs alone are insufficient (semantics + multi-hop + scoring).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intuition: numbers-as-meaning; distance metrics; why we need ANN for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DiskANN: SSD-friendly, strong latency/recall balance, complementary to HNSW/IVF. Emphasize practical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it minimal. Call out that index syntax varies by extension; the audience should map to their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both live in the demo. Emphasize latency delta; discuss recall if asked. Have pre-baked timings in your back pocket.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graph mental model. Reassure: still in Postgres; you can combine with SQL where it 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to bootstrap AGE quickly. In your demo, you’ll have richer data preloaded.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variable-length paths (*1..2) and filtering out already-liked items. Keep the example focused and readable.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flow: agent parses intent → vector preselect for semantic closeness → graph step injects user context → blended output. Keep the diagram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idea: vector distance is the base; graph contributes a positive boost. Tweak weights based on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it crisp. If time gets tight, skip B or show pre-recorded outputs for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Briefly show how tools abstract complexity. Emphasize that natural-language → deterministic tool chain is the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Offer pragmatic dials to turn. Encourage measuring recall vs latency curves and keeping a small benchmark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scars: mismatched metrics, cache issues, graph hygiene, workload isolation, fusion weight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skepticism: show the data. Keep it honest; exact figures depend on dataset, dims, hardware, and index params.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story arc and nudge the audience to try a scoped POC next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questions. Keep terminal open with prepared SQL and one canned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these handy if someone asks about setup specifics. Reinforce that index syntax can vary with the extension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From SQL to AI: DiskANN + AGE Graph in PostgreSQL (Azure Flexible Server)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Semantic search meets relationships — with an agentic demo (MCP + LangGraph)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RDBMS pain points: three hard questions</a:t>
            </a:r>
          </a:p>
          <a:p>
            <a:pPr>
              <a:defRPr sz="2000"/>
            </a:pPr>
            <a:r>
              <a:t>Vectors 101 → ANN → DiskANN quick tour</a:t>
            </a:r>
          </a:p>
          <a:p>
            <a:pPr>
              <a:defRPr sz="2000"/>
            </a:pPr>
            <a:r>
              <a:t>Graphs 101 → AGE openCypher</a:t>
            </a:r>
          </a:p>
          <a:p>
            <a:pPr>
              <a:defRPr sz="2000"/>
            </a:pPr>
            <a:r>
              <a:t>Fusion: vector preselect + graph re-rank</a:t>
            </a:r>
          </a:p>
          <a:p>
            <a:pPr>
              <a:defRPr sz="2000"/>
            </a:pPr>
            <a:r>
              <a:t>Live demo: queries + LangGraph Dev</a:t>
            </a:r>
          </a:p>
          <a:p>
            <a:pPr>
              <a:defRPr sz="2000"/>
            </a:pPr>
            <a:r>
              <a:t>Ops, tuning, pitfalls,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Hook: Hard Problems for Plain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Q1: “Given a new description, find 5 most similar items.”</a:t>
            </a:r>
          </a:p>
          <a:p>
            <a:pPr>
              <a:defRPr sz="2000"/>
            </a:pPr>
            <a:r>
              <a:t>Q2: “Recommend films for Alice using friends-of-friends taste.”</a:t>
            </a:r>
          </a:p>
          <a:p>
            <a:pPr>
              <a:defRPr sz="2000"/>
            </a:pPr>
            <a:r>
              <a:t>Q3: “Blend both: similar items, but prioritized by Alice’s network.”</a:t>
            </a:r>
          </a:p>
          <a:p>
            <a:pPr>
              <a:defRPr sz="2000"/>
            </a:pPr>
            <a:r>
              <a:t>Why it’s hard:</a:t>
            </a:r>
          </a:p>
          <a:p>
            <a:pPr lvl="1">
              <a:defRPr sz="1800"/>
            </a:pPr>
            <a:r>
              <a:t>Synonyms &amp; semantics ≠ LIKE/TF-IDF</a:t>
            </a:r>
          </a:p>
          <a:p>
            <a:pPr lvl="1">
              <a:defRPr sz="1800"/>
            </a:pPr>
            <a:r>
              <a:t>Multi-hop reasoning is verbose, brittle with joins</a:t>
            </a:r>
          </a:p>
          <a:p>
            <a:pPr lvl="1">
              <a:defRPr sz="1800"/>
            </a:pPr>
            <a:r>
              <a:t>Combining both explodes complexity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Vectors 101 (Embeddings)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Text/images → fixed-length numeric vectors</a:t>
            </a:r>
          </a:p>
          <a:p>
            <a:pPr>
              <a:defRPr sz="1800"/>
            </a:pPr>
            <a:r>
              <a:t>Distance ≈ similarity (cosine, L2)</a:t>
            </a:r>
          </a:p>
          <a:p>
            <a:pPr>
              <a:defRPr sz="1800"/>
            </a:pPr>
            <a:r>
              <a:t>High-dimensional indexing ≠ B-Tree/GIN</a:t>
            </a:r>
          </a:p>
          <a:p>
            <a:pPr>
              <a:defRPr sz="1800"/>
            </a:pPr>
            <a:r>
              <a:t>ANN: approximate top-k, trade recall for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371600"/>
            <a:ext cx="5029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Use foundation model to embed your items</a:t>
            </a:r>
          </a:p>
          <a:p>
            <a:pPr>
              <a:defRPr sz="1800"/>
            </a:pPr>
            <a:r>
              <a:t>Store as VECTOR(n) column</a:t>
            </a:r>
          </a:p>
          <a:p>
            <a:pPr>
              <a:defRPr sz="1800"/>
            </a:pPr>
            <a:r>
              <a:t>Query: ORDER BY embedding &lt;-&gt; query_vector LIMIT k</a:t>
            </a:r>
          </a:p>
          <a:p>
            <a:pPr>
              <a:defRPr sz="1800"/>
            </a:pPr>
            <a:r>
              <a:t>Index with ANN to scale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DiskANN?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Graph-on-disk ANN designed for SSD-scale datasets</a:t>
            </a:r>
          </a:p>
          <a:p>
            <a:pPr>
              <a:defRPr sz="2000"/>
            </a:pPr>
            <a:r>
              <a:t>Good latency/recall with modest memory footprint</a:t>
            </a:r>
          </a:p>
          <a:p>
            <a:pPr>
              <a:defRPr sz="2000"/>
            </a:pPr>
            <a:r>
              <a:t>Built for high-dimensional vectors and large collections</a:t>
            </a:r>
          </a:p>
          <a:p>
            <a:pPr>
              <a:defRPr sz="2000"/>
            </a:pPr>
            <a:r>
              <a:t>Use when dataset &gt;&gt; RAM or you want fast cold-start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Minimal Schema for Vector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Adjust dimensions (e.g., 384/768) and distance metric to match your embeddings.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058400" cy="5943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latin typeface="Consolas"/>
              </a:rPr>
              <a:t>CREATE EXTENSION IF NOT EXISTS vector;  -- if not already enabled
CREATE TABLE items (
  id        BIGINT PRIMARY KEY,
  title     TEXT,
  meta      JSONB,
  embedding VECTOR(768)
);
-- Build your ANN index (example placeholders; replace with your DiskANN/HNSW syntax)
-- Example HNSW (pgvector):
CREATE INDEX ON items USING hnsw (embedding vector_l2_ops);
-- Or your DiskANN index:
-- CREATE INDEX ON items USING diskann (embedding &lt;your_ops_class&gt;);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Top-K Semantic Search (Before &amp; After Index)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Same query, different performance profile.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058400" cy="5943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latin typeface="Consolas"/>
              </a:rPr>
              <a:t>-- Without ANN index (brute force):
EXPLAIN ANALYZE
SELECT id, title
FROM items
ORDER BY embedding &lt;-&gt; $1::vector  -- $1 = query vector
LIMIT 5;
-- With ANN index (HNSW/DiskANN):
EXPLAIN ANALYZE
SELECT id, title
FROM items
ORDER BY embedding &lt;-&gt; $1::vector
LIMIT 5;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Graphs 101 (AGE + openCypher)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Model: nodes (labels) and edges (types)</a:t>
            </a:r>
          </a:p>
          <a:p>
            <a:pPr>
              <a:defRPr sz="1800"/>
            </a:pPr>
            <a:r>
              <a:t>Queries express paths and neighborhoods</a:t>
            </a:r>
          </a:p>
          <a:p>
            <a:pPr>
              <a:defRPr sz="1800"/>
            </a:pPr>
            <a:r>
              <a:t>Great for multi-hop, ranking by proximity</a:t>
            </a:r>
          </a:p>
          <a:p>
            <a:pPr>
              <a:defRPr sz="1800"/>
            </a:pPr>
            <a:r>
              <a:t>Complement, don’t replace, relational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371600"/>
            <a:ext cx="5029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CREATE EXTENSION age; SET search_path to ag_catalog</a:t>
            </a:r>
          </a:p>
          <a:p>
            <a:pPr>
              <a:defRPr sz="1800"/>
            </a:pPr>
            <a:r>
              <a:t>CREATE GRAPH recs; SET graph_path = recs</a:t>
            </a:r>
          </a:p>
          <a:p>
            <a:pPr>
              <a:defRPr sz="1800"/>
            </a:pPr>
            <a:r>
              <a:t>MERGE users, movies; CREATE [:LIKES], [:FOLLOWS] edges</a:t>
            </a:r>
          </a:p>
          <a:p>
            <a:pPr>
              <a:defRPr sz="1800"/>
            </a:pPr>
            <a:r>
              <a:t>Use MATCH / WHERE / RETURN to traverse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AGE Quickstart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Initialize a graph and load a tiny example.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058400" cy="5943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latin typeface="Consolas"/>
              </a:rPr>
              <a:t>CREATE EXTENSION IF NOT EXISTS age;
LOAD 'age';
SET search_path = ag_catalog, "$user", public;
SELECT create_graph('recs');
SET graph_path = recs;
SELECT * FROM cypher('recs', $$
  CREATE (:User {id:'alice'})-[:LIKES]-&gt;(:Movie {id:'m1', title:'Inception'})
$$) AS (v agtype);
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AGE Query: Friends-of-Friends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Suggest movies to Alice based on 2-hop neighbors, excluding what she already saw.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058400" cy="5943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latin typeface="Consolas"/>
              </a:rPr>
              <a:t>SELECT * FROM cypher('recs', $$
  MATCH (:User {id:'alice'})-[:FOLLOWS*1..2]-&gt;(u)-[:LIKES]-&gt;(m:Movie)
  WHERE NOT (:User {id:'alice'})-[:LIKES]-&gt;(m)
  RETURN m.id AS movie_id, m.title AS title, count(*) AS score
  ORDER BY score DESC LIMIT 10
$$) AS (movie_id agtype, title agtype, score agtype);
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Vector + Graph: Better Together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743200" cy="914400"/>
          </a:xfrm>
          <a:prstGeom prst="roundRect">
            <a:avLst/>
          </a:prstGeom>
          <a:solidFill>
            <a:srgbClr val="F0F8FF"/>
          </a:solidFill>
          <a:ln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User Prompt</a:t>
            </a:r>
          </a:p>
          <a:p>
            <a:r>
              <a:t>(“sci-fi like Annihilation”)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188720"/>
            <a:ext cx="3200400" cy="914400"/>
          </a:xfrm>
          <a:prstGeom prst="roundRect">
            <a:avLst/>
          </a:prstGeom>
          <a:solidFill>
            <a:srgbClr val="F0F8FF"/>
          </a:solidFill>
          <a:ln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MCP / LangGraph</a:t>
            </a:r>
          </a:p>
          <a:p>
            <a:r>
              <a:t>(Intent + Tool Routing)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005840"/>
            <a:ext cx="3017520" cy="1463040"/>
          </a:xfrm>
          <a:prstGeom prst="roundRect">
            <a:avLst/>
          </a:prstGeom>
          <a:solidFill>
            <a:srgbClr val="F0F8FF"/>
          </a:solidFill>
          <a:ln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PostgreSQL (Azure Flexible)</a:t>
            </a:r>
          </a:p>
          <a:p>
            <a:r>
              <a:t>• items table + embeddings</a:t>
            </a:r>
          </a:p>
          <a:p>
            <a:r>
              <a:t>• ANN index (DiskANN/HNSW)</a:t>
            </a:r>
          </a:p>
          <a:p>
            <a:r>
              <a:t>• AGE graph (recs)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926080"/>
            <a:ext cx="3200400" cy="914400"/>
          </a:xfrm>
          <a:prstGeom prst="roundRect">
            <a:avLst/>
          </a:prstGeom>
          <a:solidFill>
            <a:srgbClr val="F0F8FF"/>
          </a:solidFill>
          <a:ln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Vector Preselect</a:t>
            </a:r>
          </a:p>
          <a:p>
            <a:r>
              <a:t>Top-K by similarity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926080"/>
            <a:ext cx="3017520" cy="914400"/>
          </a:xfrm>
          <a:prstGeom prst="roundRect">
            <a:avLst/>
          </a:prstGeom>
          <a:solidFill>
            <a:srgbClr val="F0F8FF"/>
          </a:solidFill>
          <a:ln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Graph Re-rank</a:t>
            </a:r>
          </a:p>
          <a:p>
            <a:r>
              <a:t>openCypher over recs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4572000"/>
            <a:ext cx="2743200" cy="914400"/>
          </a:xfrm>
          <a:prstGeom prst="roundRect">
            <a:avLst/>
          </a:prstGeom>
          <a:solidFill>
            <a:srgbClr val="F0F8FF"/>
          </a:solidFill>
          <a:ln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Final Results</a:t>
            </a:r>
          </a:p>
          <a:p>
            <a:r>
              <a:t>(blended score)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00400" y="1645920.0"/>
            <a:ext cx="457200" cy="0.0"/>
          </a:xfrm>
          <a:prstGeom prst="line">
            <a:avLst/>
          </a:prstGeom>
          <a:ln w="2540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1645920.0"/>
            <a:ext cx="457200" cy="91440.0"/>
          </a:xfrm>
          <a:prstGeom prst="line">
            <a:avLst/>
          </a:prstGeom>
          <a:ln w="2540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657600" y="1737360.0"/>
            <a:ext cx="6675120" cy="1645920.0"/>
          </a:xfrm>
          <a:prstGeom prst="line">
            <a:avLst/>
          </a:prstGeom>
          <a:ln w="2540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0" y="3383280.0"/>
            <a:ext cx="457200" cy="0.0"/>
          </a:xfrm>
          <a:prstGeom prst="line">
            <a:avLst/>
          </a:prstGeom>
          <a:ln w="2540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486400" y="3383280.0"/>
            <a:ext cx="4846320" cy="1645920.0"/>
          </a:xfrm>
          <a:prstGeom prst="line">
            <a:avLst/>
          </a:prstGeom>
          <a:ln w="2540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Fusion Query Pattern (SQL + Graph)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Preselect similar items with vectors, then re-rank by graph proximity/context.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058400" cy="5943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latin typeface="Consolas"/>
              </a:rPr>
              <a:t>WITH candidates AS (
  SELECT id, title, (embedding &lt;-&gt; $1::vector) AS dist
  FROM items
  ORDER BY embedding &lt;-&gt; $1::vector
  LIMIT 50
), graph_boost AS (
  -- Example: count how many 1–2 hop neighbors like the candidate
  SELECT c.id, c.title,
         (SELECT COALESCE(sum(boost),0)
          FROM cypher('recs', $$
            MATCH (:User {id:'alice'})-[:FOLLOWS*1..2]-&gt;(u)-[:LIKES]-&gt;(m:Movie)
            WHERE m.id = $cypher$c_id
            RETURN 1 AS boost
          $$) AS (boost agtype)
         ) AS gboost
  FROM candidates c
)
SELECT id, title
FROM graph_boost
ORDER BY (dist - 0.1 * gboost) ASC
LIMIT 10;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Script (5–8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A) Brute-force vs ANN top-k query (timings)</a:t>
            </a:r>
          </a:p>
          <a:p>
            <a:pPr>
              <a:defRPr sz="2000"/>
            </a:pPr>
            <a:r>
              <a:t>B) AGE friends-of-friends recommendation</a:t>
            </a:r>
          </a:p>
          <a:p>
            <a:pPr>
              <a:defRPr sz="2000"/>
            </a:pPr>
            <a:r>
              <a:t>C) Fusion: preselect + re-rank query</a:t>
            </a:r>
          </a:p>
          <a:p>
            <a:pPr>
              <a:defRPr sz="2000"/>
            </a:pPr>
            <a:r>
              <a:t>D) Agentic step in LangGraph Dev: one natural-language query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Layer: MCP + LangGraph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MCP server exposes Postgres tools: vector_search, graph_query, fusion_query</a:t>
            </a:r>
          </a:p>
          <a:p>
            <a:pPr>
              <a:defRPr sz="2000"/>
            </a:pPr>
            <a:r>
              <a:t>LangGraph routes: intent classifier → tool selection → iterative plan</a:t>
            </a:r>
          </a:p>
          <a:p>
            <a:pPr>
              <a:defRPr sz="2000"/>
            </a:pPr>
            <a:r>
              <a:t>Observability: show tool calls and state in Dev UI</a:t>
            </a:r>
          </a:p>
          <a:p>
            <a:pPr>
              <a:defRPr sz="2000"/>
            </a:pPr>
            <a:r>
              <a:t>Safety guardrails: query templates, parameter bounds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Ops &amp; Tuning: Field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Embeddings: choose metric (cosine/L2) to match model</a:t>
            </a:r>
          </a:p>
          <a:p>
            <a:pPr>
              <a:defRPr sz="1800"/>
            </a:pPr>
            <a:r>
              <a:t>Batch writes; VACUUM/ANALYZE after loads</a:t>
            </a:r>
          </a:p>
          <a:p>
            <a:pPr>
              <a:defRPr sz="1800"/>
            </a:pPr>
            <a:r>
              <a:t>During index build: raise maintenance_work_mem</a:t>
            </a:r>
          </a:p>
          <a:p>
            <a:pPr>
              <a:defRPr sz="1800"/>
            </a:pPr>
            <a:r>
              <a:t>IOPS/throughput matter for SSD-backed ANN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371600"/>
            <a:ext cx="5029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Pre-warm hot pages; cache typical query vectors</a:t>
            </a:r>
          </a:p>
          <a:p>
            <a:pPr>
              <a:defRPr sz="1800"/>
            </a:pPr>
            <a:r>
              <a:t>Measure recall@k vs latency tradeoffs</a:t>
            </a:r>
          </a:p>
          <a:p>
            <a:pPr>
              <a:defRPr sz="1800"/>
            </a:pPr>
            <a:r>
              <a:t>AGE: index node IDs; keep concise labels</a:t>
            </a:r>
          </a:p>
          <a:p>
            <a:pPr>
              <a:defRPr sz="1800"/>
            </a:pPr>
            <a:r>
              <a:t>Backup plan: canned query outputs for demo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Pitfalls &amp; Gotchas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Index/ops class mismatch with your embedding distance</a:t>
            </a:r>
          </a:p>
          <a:p>
            <a:pPr>
              <a:defRPr sz="2000"/>
            </a:pPr>
            <a:r>
              <a:t>Cold cache surprises; prewarm or run a warm-up query</a:t>
            </a:r>
          </a:p>
          <a:p>
            <a:pPr>
              <a:defRPr sz="2000"/>
            </a:pPr>
            <a:r>
              <a:t>Graph bloat: control labels/properties, archive stale edges</a:t>
            </a:r>
          </a:p>
          <a:p>
            <a:pPr>
              <a:defRPr sz="2000"/>
            </a:pPr>
            <a:r>
              <a:t>Mixed workloads: isolate OLTP vs ANN/graph queries if needed</a:t>
            </a:r>
          </a:p>
          <a:p>
            <a:pPr>
              <a:defRPr sz="2000"/>
            </a:pPr>
            <a:r>
              <a:t>Don’t overfit weights in fusion without validation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Your Numbers: Latency &amp; Recall (Example Table)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Replace with your measurements on your dataset/hardware.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058400" cy="5943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latin typeface="Consolas"/>
              </a:rPr>
              <a:t>k | Method    | P95 Latency (ms) | Recall@k
---+-----------+------------------+---------
5 | Brute     |  950              | 1.00
5 | HNSW      |   25              | 0.98
5 | DiskANN   |   18              | 0.97
10| HNSW      |   35              | 0.98
10| DiskANN   |   26              | 0.97
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PostgreSQL + vectors + graphs: powerful in one stack</a:t>
            </a:r>
          </a:p>
          <a:p>
            <a:pPr>
              <a:defRPr sz="2000"/>
            </a:pPr>
            <a:r>
              <a:t>Start small: 10k–50k items; validate metrics and UX</a:t>
            </a:r>
          </a:p>
          <a:p>
            <a:pPr>
              <a:defRPr sz="2000"/>
            </a:pPr>
            <a:r>
              <a:t>Scale: move to SSD-friendly ANN and tighten graph model</a:t>
            </a:r>
          </a:p>
          <a:p>
            <a:pPr>
              <a:defRPr sz="2000"/>
            </a:pPr>
            <a:r>
              <a:t>Agent: wrap with MCP tools; show LangGraph Dev to stakeholders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Backup slides: DDL, config, and demo scripts in appendix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Appendix: DDL &amp; Setup Snippets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Adapt to your environment (Azure Flexible Server).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058400" cy="5943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latin typeface="Consolas"/>
              </a:rPr>
              <a:t>-- Enable extensions (as supported by your server):
CREATE EXTENSION IF NOT EXISTS vector;
CREATE EXTENSION IF NOT EXISTS age;
LOAD 'age';
SET search_path = ag_catalog, "$user", public;
SELECT create_graph('recs'); SET graph_path = recs;
-- Items table and index (choose your ANN index):
CREATE TABLE items(
  id BIGINT PRIMARY KEY,
  title TEXT,
  meta JSONB,
  embedding VECTOR(768)
);
CREATE INDEX ON items USING hnsw (embedding vector_l2_ops);
-- or: CREATE INDEX ON items USING diskann (embedding &lt;ops&gt;);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